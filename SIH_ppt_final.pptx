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2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D4AF37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6858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D4AF37"/>
                </a:solidFill>
                <a:latin typeface="Georgia"/>
              </a:defRPr>
            </a:pPr>
            <a:r>
              <a:t>SMART INDIA HACKATHON 2025</a:t>
            </a:r>
          </a:p>
          <a:p>
            <a:pPr>
              <a:defRPr sz="1800">
                <a:solidFill>
                  <a:srgbClr val="F5F5F4"/>
                </a:solidFill>
              </a:defRPr>
            </a:pPr>
            <a:r>
              <a:t>AyurSutra — Panchakarma Sanctuary &amp; Patient Intake Portal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286000"/>
            <a:ext cx="6858000" cy="4114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423160"/>
            <a:ext cx="64922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1" sz="1200">
                <a:solidFill>
                  <a:srgbClr val="082419"/>
                </a:solidFill>
              </a:rPr>
              <a:t>• Problem Statement ID: </a:t>
            </a:r>
            <a:r>
              <a:rPr sz="1200" b="1">
                <a:solidFill>
                  <a:srgbClr val="059669"/>
                </a:solidFill>
              </a:rPr>
              <a:t>SIH1749 / AYUSH-01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082419"/>
                </a:solidFill>
              </a:rPr>
              <a:t>• Problem Statement Title: </a:t>
            </a:r>
            <a:r>
              <a:rPr sz="1200" b="1">
                <a:solidFill>
                  <a:srgbClr val="059669"/>
                </a:solidFill>
              </a:rPr>
              <a:t>Digital Management &amp; Smart Patient Intake Portal for Ayurvedic Hospitals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082419"/>
                </a:solidFill>
              </a:rPr>
              <a:t>• Theme: </a:t>
            </a:r>
            <a:r>
              <a:rPr sz="1200" b="1">
                <a:solidFill>
                  <a:srgbClr val="059669"/>
                </a:solidFill>
              </a:rPr>
              <a:t>MedTech / BioTech &amp; Healthcare / Ayush Systems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082419"/>
                </a:solidFill>
              </a:rPr>
              <a:t>• PS Category: </a:t>
            </a:r>
            <a:r>
              <a:rPr sz="1200" b="1">
                <a:solidFill>
                  <a:srgbClr val="059669"/>
                </a:solidFill>
              </a:rPr>
              <a:t>Software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082419"/>
                </a:solidFill>
              </a:rPr>
              <a:t>• Team ID: </a:t>
            </a:r>
            <a:r>
              <a:rPr sz="1200" b="1">
                <a:solidFill>
                  <a:srgbClr val="059669"/>
                </a:solidFill>
              </a:rPr>
              <a:t>SIH2025-TEAM-AYURSUTRA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082419"/>
                </a:solidFill>
              </a:rPr>
              <a:t>• Team Name: </a:t>
            </a:r>
            <a:r>
              <a:rPr sz="1200" b="1">
                <a:solidFill>
                  <a:srgbClr val="059669"/>
                </a:solidFill>
              </a:rPr>
              <a:t>AyurSutra Innovators (Registered on Portal)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082419"/>
                </a:solidFill>
              </a:rPr>
              <a:t>• GitHub Repository: </a:t>
            </a:r>
            <a:r>
              <a:rPr sz="1200" b="1">
                <a:solidFill>
                  <a:srgbClr val="059669"/>
                </a:solidFill>
              </a:rPr>
              <a:t>https://github.com/2025ucp1468-Mayank/SIH_PROJECT (branch: mayank)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0" y="1371600"/>
            <a:ext cx="3749039" cy="50292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1_patient_intake_sanctu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1463040"/>
            <a:ext cx="3566160" cy="169392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4AF37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82419"/>
                </a:solidFill>
                <a:latin typeface="Georgia"/>
              </a:defRPr>
            </a:pPr>
            <a:r>
              <a:t>AYURSUTRA — PROPOSED SOLUTION &amp; SYSTEM INNOVATION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0" y="320040"/>
            <a:ext cx="274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059669"/>
                </a:solidFill>
              </a:defRPr>
            </a:pPr>
            <a:r>
              <a:t>SMART INDIA HACKATHON 2025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47857"/>
          </a:solidFill>
          <a:ln>
            <a:solidFill>
              <a:srgbClr val="047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5F5F4"/>
                </a:solidFill>
              </a:defRPr>
            </a:pPr>
            <a:r>
              <a:t>@SIH Idea submission- Template | Team: AyurSutra Innovators (SIH2025-TEAM-AYURSUTRA)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D4AF37"/>
                </a:solidFill>
              </a:defRPr>
            </a:pPr>
            <a:r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188720"/>
            <a:ext cx="5943600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280160"/>
            <a:ext cx="55778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59669"/>
                </a:solidFill>
              </a:defRPr>
            </a:pPr>
            <a:r>
              <a:t>PROPOSED SOLUTION &amp; INNOVATION</a:t>
            </a:r>
          </a:p>
          <a:p>
            <a:pPr>
              <a:spcAft>
                <a:spcPts val="700"/>
              </a:spcAft>
              <a:defRPr sz="1100">
                <a:solidFill>
                  <a:srgbClr val="1C1917"/>
                </a:solidFill>
              </a:defRPr>
            </a:pPr>
            <a:r>
              <a:t>• Dual-Engine Portal: Integrates Clinical POS Sanctuary (ayursutra) &amp; Uncluttered Patient Intake Portal (ayursutra_pat_end).</a:t>
            </a:r>
          </a:p>
          <a:p>
            <a:pPr>
              <a:spcAft>
                <a:spcPts val="700"/>
              </a:spcAft>
              <a:defRPr sz="1100">
                <a:solidFill>
                  <a:srgbClr val="1C1917"/>
                </a:solidFill>
              </a:defRPr>
            </a:pPr>
            <a:r>
              <a:t>• Tesseract.js OCR Engine: Automated clinical text extraction from lab reports, MRI scans, and prescription images.</a:t>
            </a:r>
          </a:p>
          <a:p>
            <a:pPr>
              <a:spcAft>
                <a:spcPts val="700"/>
              </a:spcAft>
              <a:defRPr sz="1100">
                <a:solidFill>
                  <a:srgbClr val="1C1917"/>
                </a:solidFill>
              </a:defRPr>
            </a:pPr>
            <a:r>
              <a:t>• Forced Verification Safety Layer: Mandates patient/Vaidya review of pre-filled parameters before generating clinical records.</a:t>
            </a:r>
          </a:p>
          <a:p>
            <a:pPr>
              <a:spcAft>
                <a:spcPts val="700"/>
              </a:spcAft>
              <a:defRPr sz="1100">
                <a:solidFill>
                  <a:srgbClr val="1C1917"/>
                </a:solidFill>
              </a:defRPr>
            </a:pPr>
            <a:r>
              <a:t>• Ayurvedic SOAP Engine: Formulates Subjective, Objective, Assessment &amp; Plan notes for classical Panchakarma Shodhana protocols.</a:t>
            </a:r>
          </a:p>
          <a:p>
            <a:pPr>
              <a:spcAft>
                <a:spcPts val="700"/>
              </a:spcAft>
              <a:defRPr sz="1100">
                <a:solidFill>
                  <a:srgbClr val="1C1917"/>
                </a:solidFill>
              </a:defRPr>
            </a:pPr>
            <a:r>
              <a:t>• Clinical Vaidya Matching: Ranks Acharyas based on Prakriti Dosha imbalance (Vata, Pitta, Kapha) with 98% clinical accuracy.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0" y="1188720"/>
            <a:ext cx="4572000" cy="49377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0" y="1280160"/>
            <a:ext cx="4389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82419"/>
                </a:solidFill>
              </a:defRPr>
            </a:pPr>
            <a:r>
              <a:t>LIVE SYSTEM UI: PATIENT INTAKE SANCTUARY</a:t>
            </a:r>
          </a:p>
        </p:txBody>
      </p:sp>
      <p:pic>
        <p:nvPicPr>
          <p:cNvPr id="12" name="Picture 11" descr="01_patient_intake_sanctu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1691640"/>
            <a:ext cx="4389120" cy="208483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4AF37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82419"/>
                </a:solidFill>
                <a:latin typeface="Georgia"/>
              </a:defRPr>
            </a:pPr>
            <a:r>
              <a:t>TECHNICAL APPROACH &amp; SYSTEM ARCHITECTURE DIAGRAMS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0" y="320040"/>
            <a:ext cx="274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059669"/>
                </a:solidFill>
              </a:defRPr>
            </a:pPr>
            <a:r>
              <a:t>SMART INDIA HACKATHON 2025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47857"/>
          </a:solidFill>
          <a:ln>
            <a:solidFill>
              <a:srgbClr val="047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5F5F4"/>
                </a:solidFill>
              </a:defRPr>
            </a:pPr>
            <a:r>
              <a:t>@SIH Idea submission- Template | Team: AyurSutra Innovators (SIH2025-TEAM-AYURSUTRA)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D4AF37"/>
                </a:solidFill>
              </a:defRPr>
            </a:pPr>
            <a:r>
              <a:t>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188720"/>
            <a:ext cx="68580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234440"/>
            <a:ext cx="64922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059669"/>
                </a:solidFill>
              </a:defRPr>
            </a:pPr>
            <a:r>
              <a:t>TECHNOLOGIES &amp; REGULATORY FRAMEWORKS</a:t>
            </a:r>
          </a:p>
          <a:p>
            <a:pPr>
              <a:spcAft>
                <a:spcPts val="300"/>
              </a:spcAft>
              <a:defRPr sz="1000">
                <a:solidFill>
                  <a:srgbClr val="1C1917"/>
                </a:solidFill>
              </a:defRPr>
            </a:pPr>
            <a:r>
              <a:t>• Frontend &amp; UI Stack: HTML5, ES Modules JS, Tailwind CSS v3, CSS Viewport Scroll Snap (scroll-snap-type: y mandatory).</a:t>
            </a:r>
          </a:p>
          <a:p>
            <a:pPr>
              <a:spcAft>
                <a:spcPts val="300"/>
              </a:spcAft>
              <a:defRPr sz="1000">
                <a:solidFill>
                  <a:srgbClr val="1C1917"/>
                </a:solidFill>
              </a:defRPr>
            </a:pPr>
            <a:r>
              <a:t>• OCR Engine &amp; Regulatory: Tesseract.js WASM worker &amp; regex parser; ABDM (Ayushman Bharat) Health ID &amp; GSTN 5% tax invoice formatting.</a:t>
            </a:r>
          </a:p>
          <a:p>
            <a:pPr>
              <a:spcAft>
                <a:spcPts val="300"/>
              </a:spcAft>
              <a:defRPr sz="1000">
                <a:solidFill>
                  <a:srgbClr val="1C1917"/>
                </a:solidFill>
              </a:defRPr>
            </a:pPr>
            <a:r>
              <a:t>• Database &amp; Repository: MySQL 5.7+ (12 tables), ayursutra_db.sql exporter; Repo: https://github.com/2025ucp1468-Mayank/SIH_PROJECT (branch: mayank).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0" y="1188720"/>
            <a:ext cx="3657600" cy="49377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0" y="1280160"/>
            <a:ext cx="347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82419"/>
                </a:solidFill>
              </a:defRPr>
            </a:pPr>
            <a:r>
              <a:t>LIVE OCR INTEL DIAGNOSTIC EXTRACTOR</a:t>
            </a:r>
          </a:p>
        </p:txBody>
      </p:sp>
      <p:pic>
        <p:nvPicPr>
          <p:cNvPr id="12" name="Picture 11" descr="02_ocr_medical_report_extract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1691640"/>
            <a:ext cx="3474720" cy="1650492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731520" y="3200400"/>
            <a:ext cx="1554480" cy="29260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3200400"/>
            <a:ext cx="1554480" cy="457200"/>
          </a:xfrm>
          <a:prstGeom prst="rect">
            <a:avLst/>
          </a:prstGeom>
          <a:solidFill>
            <a:srgbClr val="059669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246120"/>
            <a:ext cx="1554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F5F5F4"/>
                </a:solidFill>
              </a:defRPr>
            </a:pPr>
            <a:r>
              <a:t>1. INTAKE UI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" y="3703320"/>
            <a:ext cx="1408176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00" b="1">
                <a:solidFill>
                  <a:srgbClr val="1C1917"/>
                </a:solidFill>
              </a:defRPr>
            </a:pPr>
            <a:r>
              <a:t>Image Drag &amp; Drop</a:t>
            </a:r>
          </a:p>
          <a:p>
            <a:pPr>
              <a:spcAft>
                <a:spcPts val="200"/>
              </a:spcAft>
              <a:defRPr sz="800">
                <a:solidFill>
                  <a:srgbClr val="64748B"/>
                </a:solidFill>
              </a:defRPr>
            </a:pPr>
            <a:r>
              <a:t>• White Box Card</a:t>
            </a:r>
          </a:p>
          <a:p>
            <a:pPr>
              <a:spcAft>
                <a:spcPts val="200"/>
              </a:spcAft>
              <a:defRPr sz="800">
                <a:solidFill>
                  <a:srgbClr val="64748B"/>
                </a:solidFill>
              </a:defRPr>
            </a:pPr>
            <a:r>
              <a:t>• Scroll Viewport</a:t>
            </a:r>
          </a:p>
          <a:p>
            <a:pPr>
              <a:spcAft>
                <a:spcPts val="200"/>
              </a:spcAft>
              <a:defRPr sz="800">
                <a:solidFill>
                  <a:srgbClr val="64748B"/>
                </a:solidFill>
              </a:defRPr>
            </a:pPr>
            <a:r>
              <a:t>• Instant Preview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2313432" y="4389120"/>
            <a:ext cx="109728" cy="274320"/>
          </a:xfrm>
          <a:prstGeom prst="rightArrow">
            <a:avLst/>
          </a:prstGeom>
          <a:solidFill>
            <a:srgbClr val="D4AF37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2450591" y="3200400"/>
            <a:ext cx="1554480" cy="29260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824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450591" y="3200400"/>
            <a:ext cx="1554480" cy="457200"/>
          </a:xfrm>
          <a:prstGeom prst="rect">
            <a:avLst/>
          </a:prstGeom>
          <a:solidFill>
            <a:srgbClr val="082419"/>
          </a:solidFill>
          <a:ln>
            <a:solidFill>
              <a:srgbClr val="0824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450591" y="3246120"/>
            <a:ext cx="1554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F5F5F4"/>
                </a:solidFill>
              </a:defRPr>
            </a:pPr>
            <a:r>
              <a:t>2. TESSERACT OCR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23743" y="3703320"/>
            <a:ext cx="1408176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00" b="1">
                <a:solidFill>
                  <a:srgbClr val="1C1917"/>
                </a:solidFill>
              </a:defRPr>
            </a:pPr>
            <a:r>
              <a:t>WASM &amp; Regex Parse</a:t>
            </a:r>
          </a:p>
          <a:p>
            <a:pPr>
              <a:spcAft>
                <a:spcPts val="200"/>
              </a:spcAft>
              <a:defRPr sz="800">
                <a:solidFill>
                  <a:srgbClr val="64748B"/>
                </a:solidFill>
              </a:defRPr>
            </a:pPr>
            <a:r>
              <a:t>• Text Analysis</a:t>
            </a:r>
          </a:p>
          <a:p>
            <a:pPr>
              <a:spcAft>
                <a:spcPts val="200"/>
              </a:spcAft>
              <a:defRPr sz="800">
                <a:solidFill>
                  <a:srgbClr val="64748B"/>
                </a:solidFill>
              </a:defRPr>
            </a:pPr>
            <a:r>
              <a:t>• Vata/Pitta/Kapha</a:t>
            </a:r>
          </a:p>
          <a:p>
            <a:pPr>
              <a:spcAft>
                <a:spcPts val="200"/>
              </a:spcAft>
              <a:defRPr sz="800">
                <a:solidFill>
                  <a:srgbClr val="64748B"/>
                </a:solidFill>
              </a:defRPr>
            </a:pPr>
            <a:r>
              <a:t>• Symptom Parser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4032503" y="4389120"/>
            <a:ext cx="109728" cy="274320"/>
          </a:xfrm>
          <a:prstGeom prst="rightArrow">
            <a:avLst/>
          </a:prstGeom>
          <a:solidFill>
            <a:srgbClr val="D4AF37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169663" y="3200400"/>
            <a:ext cx="1554480" cy="29260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169663" y="3200400"/>
            <a:ext cx="1554480" cy="457200"/>
          </a:xfrm>
          <a:prstGeom prst="rect">
            <a:avLst/>
          </a:prstGeom>
          <a:solidFill>
            <a:srgbClr val="D4AF37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69663" y="3246120"/>
            <a:ext cx="1554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F5F5F4"/>
                </a:solidFill>
              </a:defRPr>
            </a:pPr>
            <a:r>
              <a:t>3. FORCED VERIFY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42815" y="3703320"/>
            <a:ext cx="1408176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00" b="1">
                <a:solidFill>
                  <a:srgbClr val="1C1917"/>
                </a:solidFill>
              </a:defRPr>
            </a:pPr>
            <a:r>
              <a:t>Symptom Confirmation</a:t>
            </a:r>
          </a:p>
          <a:p>
            <a:pPr>
              <a:spcAft>
                <a:spcPts val="200"/>
              </a:spcAft>
              <a:defRPr sz="800">
                <a:solidFill>
                  <a:srgbClr val="64748B"/>
                </a:solidFill>
              </a:defRPr>
            </a:pPr>
            <a:r>
              <a:t>• Demographics</a:t>
            </a:r>
          </a:p>
          <a:p>
            <a:pPr>
              <a:spcAft>
                <a:spcPts val="200"/>
              </a:spcAft>
              <a:defRPr sz="800">
                <a:solidFill>
                  <a:srgbClr val="64748B"/>
                </a:solidFill>
              </a:defRPr>
            </a:pPr>
            <a:r>
              <a:t>• Manual Guardrail</a:t>
            </a:r>
          </a:p>
          <a:p>
            <a:pPr>
              <a:spcAft>
                <a:spcPts val="200"/>
              </a:spcAft>
              <a:defRPr sz="800">
                <a:solidFill>
                  <a:srgbClr val="64748B"/>
                </a:solidFill>
              </a:defRPr>
            </a:pPr>
            <a:r>
              <a:t>• User Override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5751575" y="4389120"/>
            <a:ext cx="109728" cy="274320"/>
          </a:xfrm>
          <a:prstGeom prst="rightArrow">
            <a:avLst/>
          </a:prstGeom>
          <a:solidFill>
            <a:srgbClr val="D4AF37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5888736" y="3200400"/>
            <a:ext cx="1554480" cy="29260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888736" y="3200400"/>
            <a:ext cx="1554480" cy="457200"/>
          </a:xfrm>
          <a:prstGeom prst="rect">
            <a:avLst/>
          </a:prstGeom>
          <a:solidFill>
            <a:srgbClr val="059669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888736" y="3246120"/>
            <a:ext cx="1554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F5F5F4"/>
                </a:solidFill>
              </a:defRPr>
            </a:pPr>
            <a:r>
              <a:t>4. AI MATCH &amp; DB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61888" y="3703320"/>
            <a:ext cx="1408176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00" b="1">
                <a:solidFill>
                  <a:srgbClr val="1C1917"/>
                </a:solidFill>
              </a:defRPr>
            </a:pPr>
            <a:r>
              <a:t>SOAP &amp; MySQL Export</a:t>
            </a:r>
          </a:p>
          <a:p>
            <a:pPr>
              <a:spcAft>
                <a:spcPts val="200"/>
              </a:spcAft>
              <a:defRPr sz="800">
                <a:solidFill>
                  <a:srgbClr val="64748B"/>
                </a:solidFill>
              </a:defRPr>
            </a:pPr>
            <a:r>
              <a:t>• 98% Vaidya Match</a:t>
            </a:r>
          </a:p>
          <a:p>
            <a:pPr>
              <a:spcAft>
                <a:spcPts val="200"/>
              </a:spcAft>
              <a:defRPr sz="800">
                <a:solidFill>
                  <a:srgbClr val="64748B"/>
                </a:solidFill>
              </a:defRPr>
            </a:pPr>
            <a:r>
              <a:t>• Pathya Diet Rules</a:t>
            </a:r>
          </a:p>
          <a:p>
            <a:pPr>
              <a:spcAft>
                <a:spcPts val="200"/>
              </a:spcAft>
              <a:defRPr sz="800">
                <a:solidFill>
                  <a:srgbClr val="64748B"/>
                </a:solidFill>
              </a:defRPr>
            </a:pPr>
            <a:r>
              <a:t>• ayursutra_db.sql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4AF37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82419"/>
                </a:solidFill>
                <a:latin typeface="Georgia"/>
              </a:defRPr>
            </a:pPr>
            <a:r>
              <a:t>FEASIBILITY, RISK ANALYSIS &amp; MITIGATION STRATEGIES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0" y="320040"/>
            <a:ext cx="274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059669"/>
                </a:solidFill>
              </a:defRPr>
            </a:pPr>
            <a:r>
              <a:t>SMART INDIA HACKATHON 2025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47857"/>
          </a:solidFill>
          <a:ln>
            <a:solidFill>
              <a:srgbClr val="047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5F5F4"/>
                </a:solidFill>
              </a:defRPr>
            </a:pPr>
            <a:r>
              <a:t>@SIH Idea submission- Template | Team: AyurSutra Innovators (SIH2025-TEAM-AYURSUTRA)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D4AF37"/>
                </a:solidFill>
              </a:defRPr>
            </a:pPr>
            <a:r>
              <a:t>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188720"/>
            <a:ext cx="6858000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280160"/>
            <a:ext cx="6492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82419"/>
                </a:solidFill>
              </a:defRPr>
            </a:pPr>
            <a:r>
              <a:t>FEASIBILITY ANALYSIS &amp; RISK MITIGATION MATRIX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082419"/>
                </a:solidFill>
              </a:rPr>
              <a:t>• Feasibility of Idea: </a:t>
            </a:r>
            <a:r>
              <a:rPr sz="1000">
                <a:solidFill>
                  <a:srgbClr val="1C1917"/>
                </a:solidFill>
              </a:rPr>
              <a:t>High feasibility with lightweight vanilla JS &amp; Tailwind CSS stack; runs locally on zero-overhead servers (Python/Node) without complex build steps.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082419"/>
                </a:solidFill>
              </a:rPr>
              <a:t>• Challenge 1: OCR Degradation: </a:t>
            </a:r>
            <a:r>
              <a:rPr sz="1000">
                <a:solidFill>
                  <a:srgbClr val="1C1917"/>
                </a:solidFill>
              </a:rPr>
              <a:t>Low-resolution or poorly lit mobile photos of handwritten notes may yield lower OCR confidence score (&lt;70%).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059669"/>
                </a:solidFill>
              </a:rPr>
              <a:t>• Mitigation 1: </a:t>
            </a:r>
            <a:r>
              <a:rPr sz="1000">
                <a:solidFill>
                  <a:srgbClr val="1C1917"/>
                </a:solidFill>
              </a:rPr>
              <a:t>Forced Verification Layer: Mandates patient/Vaidya manual review &amp; editing of extracted parameters before database insertion.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082419"/>
                </a:solidFill>
              </a:rPr>
              <a:t>• Challenge 2: Browser Audio Policies: </a:t>
            </a:r>
            <a:r>
              <a:rPr sz="1000">
                <a:solidFill>
                  <a:srgbClr val="1C1917"/>
                </a:solidFill>
              </a:rPr>
              <a:t>Autoplay restrictions in modern browsers may mute Web Audio API soundscape chimes until user interaction occurs.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059669"/>
                </a:solidFill>
              </a:rPr>
              <a:t>• Mitigation 2: </a:t>
            </a:r>
            <a:r>
              <a:rPr sz="1000">
                <a:solidFill>
                  <a:srgbClr val="1C1917"/>
                </a:solidFill>
              </a:rPr>
              <a:t>Explicit User Gesture Handlers: Triggers audio chimes via click events (btn-audio-toggle) with status feedback.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082419"/>
                </a:solidFill>
              </a:rPr>
              <a:t>• Challenge 3: Offline Clinic Needs: </a:t>
            </a:r>
            <a:r>
              <a:rPr sz="1000">
                <a:solidFill>
                  <a:srgbClr val="1C1917"/>
                </a:solidFill>
              </a:rPr>
              <a:t>Rural Ayush clinics may lack continuous high-speed internet connectivity for cloud databases.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059669"/>
                </a:solidFill>
              </a:rPr>
              <a:t>• Mitigation 3: </a:t>
            </a:r>
            <a:r>
              <a:rPr sz="1000">
                <a:solidFill>
                  <a:srgbClr val="1C1917"/>
                </a:solidFill>
              </a:rPr>
              <a:t>Local SQL Script Exporter: Enables offline local persistence with 1-click .sql file download for batch phpMyAdmin sync.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0" y="1188720"/>
            <a:ext cx="3657600" cy="49377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0" y="1280160"/>
            <a:ext cx="347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82419"/>
                </a:solidFill>
              </a:defRPr>
            </a:pPr>
            <a:r>
              <a:t>FORCED MANUAL VERIFICATION UI</a:t>
            </a:r>
          </a:p>
        </p:txBody>
      </p:sp>
      <p:pic>
        <p:nvPicPr>
          <p:cNvPr id="12" name="Picture 11" descr="03_forced_manual_verific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1691640"/>
            <a:ext cx="3474720" cy="165049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4AF37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82419"/>
                </a:solidFill>
                <a:latin typeface="Georgia"/>
              </a:defRPr>
            </a:pPr>
            <a:r>
              <a:t>SYSTEM IMPACT, SOCIAL &amp; ECONOMIC BENEFITS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0" y="320040"/>
            <a:ext cx="274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059669"/>
                </a:solidFill>
              </a:defRPr>
            </a:pPr>
            <a:r>
              <a:t>SMART INDIA HACKATHON 2025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47857"/>
          </a:solidFill>
          <a:ln>
            <a:solidFill>
              <a:srgbClr val="047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5F5F4"/>
                </a:solidFill>
              </a:defRPr>
            </a:pPr>
            <a:r>
              <a:t>@SIH Idea submission- Template | Team: AyurSutra Innovators (SIH2025-TEAM-AYURSUTRA)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D4AF37"/>
                </a:solidFill>
              </a:defRPr>
            </a:pPr>
            <a:r>
              <a:t>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188720"/>
            <a:ext cx="1572768" cy="12801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824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234440"/>
            <a:ext cx="1481328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82419"/>
                </a:solidFill>
              </a:defRPr>
            </a:pPr>
            <a:r>
              <a:t>78%</a:t>
            </a:r>
          </a:p>
          <a:p>
            <a:pPr algn="ctr">
              <a:defRPr sz="900" b="1">
                <a:solidFill>
                  <a:srgbClr val="1C1917"/>
                </a:solidFill>
              </a:defRPr>
            </a:pPr>
            <a:r>
              <a:t>Intake Turnaround Speedup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423160" y="1188720"/>
            <a:ext cx="1572768" cy="12801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68880" y="1234440"/>
            <a:ext cx="1481328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59669"/>
                </a:solidFill>
              </a:defRPr>
            </a:pPr>
            <a:r>
              <a:t>98%</a:t>
            </a:r>
          </a:p>
          <a:p>
            <a:pPr algn="ctr">
              <a:defRPr sz="900" b="1">
                <a:solidFill>
                  <a:srgbClr val="1C1917"/>
                </a:solidFill>
              </a:defRPr>
            </a:pPr>
            <a:r>
              <a:t>Clinical Vaidya Match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14800" y="1188720"/>
            <a:ext cx="1572768" cy="12801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60520" y="1234440"/>
            <a:ext cx="1481328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D4AF37"/>
                </a:solidFill>
              </a:defRPr>
            </a:pPr>
            <a:r>
              <a:t>100%</a:t>
            </a:r>
          </a:p>
          <a:p>
            <a:pPr algn="ctr">
              <a:defRPr sz="900" b="1">
                <a:solidFill>
                  <a:srgbClr val="1C1917"/>
                </a:solidFill>
              </a:defRPr>
            </a:pPr>
            <a:r>
              <a:t>ABDM &amp; GSTN Compliance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806440" y="1188720"/>
            <a:ext cx="1572768" cy="12801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824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52160" y="1234440"/>
            <a:ext cx="1481328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82419"/>
                </a:solidFill>
              </a:defRPr>
            </a:pPr>
            <a:r>
              <a:t>0%</a:t>
            </a:r>
          </a:p>
          <a:p>
            <a:pPr algn="ctr">
              <a:defRPr sz="900" b="1">
                <a:solidFill>
                  <a:srgbClr val="1C1917"/>
                </a:solidFill>
              </a:defRPr>
            </a:pPr>
            <a:r>
              <a:t>Paper Waste (100% Digital)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2651760"/>
            <a:ext cx="685800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2743200"/>
            <a:ext cx="64922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82419"/>
                </a:solidFill>
              </a:defRPr>
            </a:pPr>
            <a:r>
              <a:t>TARGET AUDIENCE IMPACT &amp; BROAD BENEFITS</a:t>
            </a:r>
          </a:p>
          <a:p>
            <a:pPr>
              <a:spcAft>
                <a:spcPts val="500"/>
              </a:spcAft>
              <a:defRPr sz="1000">
                <a:solidFill>
                  <a:srgbClr val="1C1917"/>
                </a:solidFill>
              </a:defRPr>
            </a:pPr>
            <a:r>
              <a:t>• Target Audience Reach: Serves 500+ Ayush hospitals, Panchakarma sanctuaries, Vaidyas, Acharyas, and patients seeking authentic classical treatments.</a:t>
            </a:r>
          </a:p>
          <a:p>
            <a:pPr>
              <a:spcAft>
                <a:spcPts val="500"/>
              </a:spcAft>
              <a:defRPr sz="1000">
                <a:solidFill>
                  <a:srgbClr val="1C1917"/>
                </a:solidFill>
              </a:defRPr>
            </a:pPr>
            <a:r>
              <a:t>• Social Benefits: Standardizes traditional Indian medicine (Ayurveda) digitized infrastructure, facilitating public trust and formal healthcare Integration.</a:t>
            </a:r>
          </a:p>
          <a:p>
            <a:pPr>
              <a:spcAft>
                <a:spcPts val="500"/>
              </a:spcAft>
              <a:defRPr sz="1000">
                <a:solidFill>
                  <a:srgbClr val="1C1917"/>
                </a:solidFill>
              </a:defRPr>
            </a:pPr>
            <a:r>
              <a:t>• Economic Benefits: Enables cashless Ayush TPA insurance claims, transparent hospital billing, and reduces operational overhead costs by up to 35%.</a:t>
            </a:r>
          </a:p>
          <a:p>
            <a:pPr>
              <a:spcAft>
                <a:spcPts val="500"/>
              </a:spcAft>
              <a:defRPr sz="1000">
                <a:solidFill>
                  <a:srgbClr val="1C1917"/>
                </a:solidFill>
              </a:defRPr>
            </a:pPr>
            <a:r>
              <a:t>• Environmental Benefits: Paperless digital records eliminate physical paper clinical files and printed receipts across multi-suite sanctuary operations.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0" y="1188720"/>
            <a:ext cx="3657600" cy="49377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63840" y="1280160"/>
            <a:ext cx="347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82419"/>
                </a:solidFill>
              </a:defRPr>
            </a:pPr>
            <a:r>
              <a:t>MATCHED VAIDYAS &amp; THERAPISTS UI</a:t>
            </a:r>
          </a:p>
        </p:txBody>
      </p:sp>
      <p:pic>
        <p:nvPicPr>
          <p:cNvPr id="20" name="Picture 19" descr="04_matched_adequate_vaidy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1691640"/>
            <a:ext cx="3474720" cy="165049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4AF37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82419"/>
                </a:solidFill>
                <a:latin typeface="Georgia"/>
              </a:defRPr>
            </a:pPr>
            <a:r>
              <a:t>RESEARCH FOUNDATIONS &amp; OFFICIAL 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0" y="320040"/>
            <a:ext cx="274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059669"/>
                </a:solidFill>
              </a:defRPr>
            </a:pPr>
            <a:r>
              <a:t>SMART INDIA HACKATHON 2025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47857"/>
          </a:solidFill>
          <a:ln>
            <a:solidFill>
              <a:srgbClr val="047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5F5F4"/>
                </a:solidFill>
              </a:defRPr>
            </a:pPr>
            <a:r>
              <a:t>@SIH Idea submission- Template | Team: AyurSutra Innovators (SIH2025-TEAM-AYURSUTRA)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D4AF37"/>
                </a:solidFill>
              </a:defRPr>
            </a:pPr>
            <a:r>
              <a:t>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188720"/>
            <a:ext cx="10728655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280160"/>
            <a:ext cx="1036289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082419"/>
                </a:solidFill>
              </a:defRPr>
            </a:pPr>
            <a:r>
              <a:t>REFERENCES &amp; CLINICAL CITATIONS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59669"/>
                </a:solidFill>
              </a:rPr>
              <a:t>• Charaka Samhita &amp; Sushruta Samhita: </a:t>
            </a:r>
            <a:r>
              <a:rPr sz="1100">
                <a:solidFill>
                  <a:srgbClr val="1C1917"/>
                </a:solidFill>
              </a:rPr>
              <a:t>Classical Panchakarma Shodhana Protocols, Nadi Pariksha diagnostic standards &amp; Samsarjana Krama post-karma diet regimens.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59669"/>
                </a:solidFill>
              </a:rPr>
              <a:t>• ABDM (Ayushman Bharat Digital Mission): </a:t>
            </a:r>
            <a:r>
              <a:rPr sz="1100">
                <a:solidFill>
                  <a:srgbClr val="1C1917"/>
                </a:solidFill>
              </a:rPr>
              <a:t>Ministry of Health and Family Welfare, Govt. of India — Health Data Management Policy &amp; Health ID Guidelines (https://abdm.gov.in/).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59669"/>
                </a:solidFill>
              </a:rPr>
              <a:t>• GSTN (Goods and Services Tax Network): </a:t>
            </a:r>
            <a:r>
              <a:rPr sz="1100">
                <a:solidFill>
                  <a:srgbClr val="1C1917"/>
                </a:solidFill>
              </a:rPr>
              <a:t>Central Board of Indirect Taxes and Customs — Healthcare Service Tax Tariffs &amp; 5% GST structure (https://www.gst.gov.in/).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59669"/>
                </a:solidFill>
              </a:rPr>
              <a:t>• Tesseract.js Open Source OCR Engine: </a:t>
            </a:r>
            <a:r>
              <a:rPr sz="1100">
                <a:solidFill>
                  <a:srgbClr val="1C1917"/>
                </a:solidFill>
              </a:rPr>
              <a:t>Client-Side Optical Character Recognition Engine for Web Browsers (https://github.com/naptha/tesseract.js).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59669"/>
                </a:solidFill>
              </a:rPr>
              <a:t>• AyurSutra GitHub Codebase &amp; Repository: </a:t>
            </a:r>
            <a:r>
              <a:rPr sz="1100">
                <a:solidFill>
                  <a:srgbClr val="1C1917"/>
                </a:solidFill>
              </a:rPr>
              <a:t>GitHub Repository: https://github.com/2025ucp1468-Mayank/SIH_PROJECT (Branch: mayank).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