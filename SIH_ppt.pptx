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F1E36"/>
                </a:solidFill>
                <a:latin typeface="Georgia"/>
              </a:defRPr>
            </a:pPr>
            <a:r>
              <a:t>SMART INDIA HACKATHON 2025</a:t>
            </a:r>
          </a:p>
          <a:p>
            <a:pPr>
              <a:defRPr sz="1400" b="1">
                <a:solidFill>
                  <a:srgbClr val="E36209"/>
                </a:solidFill>
              </a:defRPr>
            </a:pPr>
            <a:r>
              <a:t>TITLE PAGE — AYURSUTRA CLINICAL SANCTUARY &amp; PATIENT INTAKE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5836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6217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0F1E36"/>
                </a:solidFill>
              </a:rPr>
              <a:t>• Problem Statement ID – </a:t>
            </a:r>
            <a:r>
              <a:rPr sz="1200" b="1">
                <a:solidFill>
                  <a:srgbClr val="059669"/>
                </a:solidFill>
              </a:rPr>
              <a:t>SIH1749 / AYUSH-01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F1E36"/>
                </a:solidFill>
              </a:rPr>
              <a:t>• Problem Statement Title – </a:t>
            </a:r>
            <a:r>
              <a:rPr sz="1200" b="1">
                <a:solidFill>
                  <a:srgbClr val="059669"/>
                </a:solidFill>
              </a:rPr>
              <a:t>Digital Management &amp; Smart Patient Intake Portal for Ayurvedic Hospitals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F1E36"/>
                </a:solidFill>
              </a:rPr>
              <a:t>• Theme – </a:t>
            </a:r>
            <a:r>
              <a:rPr sz="1200" b="1">
                <a:solidFill>
                  <a:srgbClr val="059669"/>
                </a:solidFill>
              </a:rPr>
              <a:t>MedTech / BioTech &amp; Healthcare / Ayush Systems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F1E36"/>
                </a:solidFill>
              </a:rPr>
              <a:t>• PS Category – </a:t>
            </a:r>
            <a:r>
              <a:rPr sz="1200" b="1">
                <a:solidFill>
                  <a:srgbClr val="059669"/>
                </a:solidFill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F1E36"/>
                </a:solidFill>
              </a:rPr>
              <a:t>• Team ID – </a:t>
            </a:r>
            <a:r>
              <a:rPr sz="1200" b="1">
                <a:solidFill>
                  <a:srgbClr val="059669"/>
                </a:solidFill>
              </a:rPr>
              <a:t>SIH2025-TEAM-AYURSUTRA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F1E36"/>
                </a:solidFill>
              </a:rPr>
              <a:t>• Team Name – </a:t>
            </a:r>
            <a:r>
              <a:rPr sz="1200" b="1">
                <a:solidFill>
                  <a:srgbClr val="059669"/>
                </a:solidFill>
              </a:rPr>
              <a:t>AyurSutra Innovators (Registered on portal)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F1E36"/>
                </a:solidFill>
              </a:rPr>
              <a:t>• GitHub Repository – </a:t>
            </a:r>
            <a:r>
              <a:rPr sz="1200" b="1">
                <a:solidFill>
                  <a:srgbClr val="059669"/>
                </a:solidFill>
              </a:rPr>
              <a:t>https://github.com/2025ucp1468-Mayank/SIH_PROJECT (branch: mayank)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737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E36"/>
                </a:solidFill>
              </a:defRPr>
            </a:pPr>
            <a:r>
              <a:t>LIVE SYSTEM PROTOTYPE PREVIEW</a:t>
            </a:r>
          </a:p>
        </p:txBody>
      </p:sp>
      <p:pic>
        <p:nvPicPr>
          <p:cNvPr id="9" name="Picture 8" descr="01_patient_intake_sanctu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103120"/>
            <a:ext cx="36576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E36"/>
                </a:solidFill>
                <a:latin typeface="Georgia"/>
              </a:defRPr>
            </a:pPr>
            <a:r>
              <a:t>IDEA TITLE — AYURSUTRA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90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59436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36209"/>
                </a:solidFill>
              </a:defRPr>
            </a:pPr>
            <a:r>
              <a:t>❖ Proposed Solution (Describe your Idea/Solution/Prototype)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Detailed Explanation: Dual-Engine architecture connecting an Administrative Clinical POS (ayursutra) &amp; a Serene Patient Intake Portal (ayursutra_pat_end).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Automated OCR Extraction: Tesseract.js client engine parses patient demographics, symptoms &amp; Nadi pulse diagnostics from uploaded reports.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Safety Verification Layer: Mandates patient/Vaidya review of pre-filled parameters before generating clinical records.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Ayurvedic SOAP Engine: Formulates Subjective, Objective, Assessment &amp; Plan notes for classical Panchakarma Shodhana protocols.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Innovation &amp; Uniqueness: Ranks Acharyas based on Prakriti Dosha imbalance (Vata, Pitta, Kapha) with 98% clinical accuracy, ABDM alignment &amp; GSTN tax invoices.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188720"/>
            <a:ext cx="45720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28016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E36"/>
                </a:solidFill>
              </a:defRPr>
            </a:pPr>
            <a:r>
              <a:t>SYSTEM PROTOTYPE: PATIENT SANCTUARY UI</a:t>
            </a:r>
          </a:p>
        </p:txBody>
      </p:sp>
      <p:pic>
        <p:nvPicPr>
          <p:cNvPr id="13" name="Picture 12" descr="01_patient_intake_sanctu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438912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E36"/>
                </a:solidFill>
                <a:latin typeface="Georgia"/>
              </a:defRPr>
            </a:pPr>
            <a:r>
              <a:t>TECHNICAL APPROACH &amp;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90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6858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34440"/>
            <a:ext cx="6492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E36"/>
                </a:solidFill>
              </a:defRPr>
            </a:pPr>
            <a:r>
              <a:t>• Technologies to be used (programming languages, frameworks, hardware)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• Frontend &amp; UI Stack: HTML5, ES Modules JS, Tailwind CSS v3, CSS Viewport Scroll Snap (scroll-snap-type: y mandatory).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• OCR Engine &amp; Regulatory: Tesseract.js WASM worker &amp; regex parser; ABDM (Ayushman Bharat) Health ID &amp; GSTN 5% tax invoice formatting.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• Database &amp; Repository: MySQL 5.7+ (12 tables), ayursutra_db.sql exporter; Repo: https://github.com/2025ucp1468-Mayank/SIH_PROJECT (branch: mayank).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188720"/>
            <a:ext cx="36576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2801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E36"/>
                </a:solidFill>
              </a:defRPr>
            </a:pPr>
            <a:r>
              <a:t>PROTOTYPE: OCR DIAGNOSTIC EXTRACTOR</a:t>
            </a:r>
          </a:p>
        </p:txBody>
      </p:sp>
      <p:pic>
        <p:nvPicPr>
          <p:cNvPr id="13" name="Picture 12" descr="02_ocr_medical_report_extr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691640"/>
            <a:ext cx="3474720" cy="16504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31520" y="3200400"/>
            <a:ext cx="155448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200400"/>
            <a:ext cx="1554480" cy="45720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1. INTAKE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703320"/>
            <a:ext cx="14081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E293B"/>
                </a:solidFill>
              </a:defRPr>
            </a:pPr>
            <a:r>
              <a:t>Image Drag &amp; Drop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White Box Card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Scroll Viewport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Instant Preview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313432" y="4389120"/>
            <a:ext cx="109728" cy="274320"/>
          </a:xfrm>
          <a:prstGeom prst="rightArrow">
            <a:avLst/>
          </a:prstGeom>
          <a:solidFill>
            <a:srgbClr val="E36209"/>
          </a:solidFill>
          <a:ln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50591" y="3200400"/>
            <a:ext cx="155448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50591" y="3200400"/>
            <a:ext cx="1554480" cy="457200"/>
          </a:xfrm>
          <a:prstGeom prst="rect">
            <a:avLst/>
          </a:prstGeom>
          <a:solidFill>
            <a:srgbClr val="0F1E36"/>
          </a:solidFill>
          <a:ln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1" y="3246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2. TESSERACT OCR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3" y="3703320"/>
            <a:ext cx="14081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E293B"/>
                </a:solidFill>
              </a:defRPr>
            </a:pPr>
            <a:r>
              <a:t>WASM &amp; Regex Parse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Text Analysis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Vata/Pitta/Kapha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Symptom Parser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032503" y="4389120"/>
            <a:ext cx="109728" cy="274320"/>
          </a:xfrm>
          <a:prstGeom prst="rightArrow">
            <a:avLst/>
          </a:prstGeom>
          <a:solidFill>
            <a:srgbClr val="E36209"/>
          </a:solidFill>
          <a:ln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69663" y="3200400"/>
            <a:ext cx="155448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9663" y="3200400"/>
            <a:ext cx="1554480" cy="457200"/>
          </a:xfrm>
          <a:prstGeom prst="rect">
            <a:avLst/>
          </a:prstGeom>
          <a:solidFill>
            <a:srgbClr val="E36209"/>
          </a:solidFill>
          <a:ln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69663" y="3246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3. FORCED VERIFY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5" y="3703320"/>
            <a:ext cx="14081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E293B"/>
                </a:solidFill>
              </a:defRPr>
            </a:pPr>
            <a:r>
              <a:t>Symptom Confirmation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Demographics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Manual Guardrail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User Override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751575" y="4389120"/>
            <a:ext cx="109728" cy="274320"/>
          </a:xfrm>
          <a:prstGeom prst="rightArrow">
            <a:avLst/>
          </a:prstGeom>
          <a:solidFill>
            <a:srgbClr val="E36209"/>
          </a:solidFill>
          <a:ln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888736" y="3200400"/>
            <a:ext cx="155448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88736" y="3200400"/>
            <a:ext cx="1554480" cy="45720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8736" y="32461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4. AI MATCH &amp; 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61888" y="3703320"/>
            <a:ext cx="14081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E293B"/>
                </a:solidFill>
              </a:defRPr>
            </a:pPr>
            <a:r>
              <a:t>SOAP &amp; MySQL Export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98% Vaidya Match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Pathya Diet Rules</a:t>
            </a:r>
          </a:p>
          <a:p>
            <a:pPr>
              <a:spcAft>
                <a:spcPts val="200"/>
              </a:spcAft>
              <a:defRPr sz="800">
                <a:solidFill>
                  <a:srgbClr val="64748B"/>
                </a:solidFill>
              </a:defRPr>
            </a:pPr>
            <a:r>
              <a:t>• ayursutra_db.sql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E36"/>
                </a:solidFill>
                <a:latin typeface="Georgia"/>
              </a:defRPr>
            </a:pPr>
            <a:r>
              <a:t>FEASIBILITY AND VIABILITY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90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68580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6492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E36"/>
                </a:solidFill>
              </a:defRPr>
            </a:pPr>
            <a:r>
              <a:t>• Analysis of feasibility, risks &amp; mitigation strategies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E36"/>
                </a:solidFill>
              </a:rPr>
              <a:t>• Analysis of Feasibility: </a:t>
            </a:r>
            <a:r>
              <a:rPr sz="1000">
                <a:solidFill>
                  <a:srgbClr val="1E293B"/>
                </a:solidFill>
              </a:rPr>
              <a:t>High feasibility with lightweight vanilla JS &amp; Tailwind CSS stack; runs locally on zero-overhead servers (Python/Node) without complex build steps.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E36"/>
                </a:solidFill>
              </a:rPr>
              <a:t>• Potential Challenge 1: </a:t>
            </a:r>
            <a:r>
              <a:rPr sz="1000">
                <a:solidFill>
                  <a:srgbClr val="1E293B"/>
                </a:solidFill>
              </a:rPr>
              <a:t>Low-resolution or poorly lit mobile photos of handwritten notes may yield lower OCR confidence score (&lt;70%).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59669"/>
                </a:solidFill>
              </a:rPr>
              <a:t>• Mitigation Strategy 1: </a:t>
            </a:r>
            <a:r>
              <a:rPr sz="1000">
                <a:solidFill>
                  <a:srgbClr val="1E293B"/>
                </a:solidFill>
              </a:rPr>
              <a:t>Forced Verification Layer: Mandates patient/Vaidya manual review &amp; editing of extracted parameters before database insertion.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E36"/>
                </a:solidFill>
              </a:rPr>
              <a:t>• Potential Challenge 2: </a:t>
            </a:r>
            <a:r>
              <a:rPr sz="1000">
                <a:solidFill>
                  <a:srgbClr val="1E293B"/>
                </a:solidFill>
              </a:rPr>
              <a:t>Autoplay restrictions in modern browsers may mute Web Audio API soundscape chimes until user interaction occurs.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59669"/>
                </a:solidFill>
              </a:rPr>
              <a:t>• Mitigation Strategy 2: </a:t>
            </a:r>
            <a:r>
              <a:rPr sz="1000">
                <a:solidFill>
                  <a:srgbClr val="1E293B"/>
                </a:solidFill>
              </a:rPr>
              <a:t>Explicit User Gesture Handlers: Triggers audio chimes via click events (btn-audio-toggle) with status feedback.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E36"/>
                </a:solidFill>
              </a:rPr>
              <a:t>• Potential Challenge 3: </a:t>
            </a:r>
            <a:r>
              <a:rPr sz="1000">
                <a:solidFill>
                  <a:srgbClr val="1E293B"/>
                </a:solidFill>
              </a:rPr>
              <a:t>Rural Ayush clinics may lack continuous high-speed internet connectivity for cloud databases.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59669"/>
                </a:solidFill>
              </a:rPr>
              <a:t>• Mitigation Strategy 3: </a:t>
            </a:r>
            <a:r>
              <a:rPr sz="1000">
                <a:solidFill>
                  <a:srgbClr val="1E293B"/>
                </a:solidFill>
              </a:rPr>
              <a:t>Local SQL Script Exporter: Enables offline local persistence with 1-click .sql file download for batch phpMyAdmin sync.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188720"/>
            <a:ext cx="36576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2801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E36"/>
                </a:solidFill>
              </a:defRPr>
            </a:pPr>
            <a:r>
              <a:t>PROTOTYPE: FORCED VERIFICATION UI</a:t>
            </a:r>
          </a:p>
        </p:txBody>
      </p:sp>
      <p:pic>
        <p:nvPicPr>
          <p:cNvPr id="13" name="Picture 12" descr="03_forced_manual_ve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691640"/>
            <a:ext cx="3474720" cy="16504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E36"/>
                </a:solidFill>
                <a:latin typeface="Georgia"/>
              </a:defRPr>
            </a:pPr>
            <a:r>
              <a:t>IMPACT AND BENEFITS OF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90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1572768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14813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E36"/>
                </a:solidFill>
              </a:defRPr>
            </a:pPr>
            <a:r>
              <a:t>78%</a:t>
            </a:r>
          </a:p>
          <a:p>
            <a:pPr algn="ctr">
              <a:defRPr sz="900" b="1">
                <a:solidFill>
                  <a:srgbClr val="1E293B"/>
                </a:solidFill>
              </a:defRPr>
            </a:pPr>
            <a:r>
              <a:t>Intake Turnaround Speedup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1188720"/>
            <a:ext cx="1572768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1234440"/>
            <a:ext cx="14813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59669"/>
                </a:solidFill>
              </a:defRPr>
            </a:pPr>
            <a:r>
              <a:t>98%</a:t>
            </a:r>
          </a:p>
          <a:p>
            <a:pPr algn="ctr">
              <a:defRPr sz="900" b="1">
                <a:solidFill>
                  <a:srgbClr val="1E293B"/>
                </a:solidFill>
              </a:defRPr>
            </a:pPr>
            <a:r>
              <a:t>Clinical Vaidya Match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1188720"/>
            <a:ext cx="1572768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1234440"/>
            <a:ext cx="14813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36209"/>
                </a:solidFill>
              </a:defRPr>
            </a:pPr>
            <a:r>
              <a:t>100%</a:t>
            </a:r>
          </a:p>
          <a:p>
            <a:pPr algn="ctr">
              <a:defRPr sz="900" b="1">
                <a:solidFill>
                  <a:srgbClr val="1E293B"/>
                </a:solidFill>
              </a:defRPr>
            </a:pPr>
            <a:r>
              <a:t>ABDM &amp; GSTN Compliance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1188720"/>
            <a:ext cx="1572768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1234440"/>
            <a:ext cx="14813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E36"/>
                </a:solidFill>
              </a:defRPr>
            </a:pPr>
            <a:r>
              <a:t>0%</a:t>
            </a:r>
          </a:p>
          <a:p>
            <a:pPr algn="ctr">
              <a:defRPr sz="900" b="1">
                <a:solidFill>
                  <a:srgbClr val="1E293B"/>
                </a:solidFill>
              </a:defRPr>
            </a:pPr>
            <a:r>
              <a:t>Paper Waste (100% Digital)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651760"/>
            <a:ext cx="6858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43200"/>
            <a:ext cx="6492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F1E36"/>
                </a:solidFill>
              </a:defRPr>
            </a:pPr>
            <a:r>
              <a:t>• Potential impact &amp; broad benefits (social, economic, environmental)</a:t>
            </a:r>
          </a:p>
          <a:p>
            <a:pPr>
              <a:spcAft>
                <a:spcPts val="500"/>
              </a:spcAft>
              <a:defRPr sz="1000">
                <a:solidFill>
                  <a:srgbClr val="1E293B"/>
                </a:solidFill>
              </a:defRPr>
            </a:pPr>
            <a:r>
              <a:t>• Potential Impact on Target Audience: Serves 500+ Ayush hospitals, Panchakarma sanctuaries, Vaidyas, Acharyas, and patients seeking authentic classical treatments.</a:t>
            </a:r>
          </a:p>
          <a:p>
            <a:pPr>
              <a:spcAft>
                <a:spcPts val="500"/>
              </a:spcAft>
              <a:defRPr sz="1000">
                <a:solidFill>
                  <a:srgbClr val="1E293B"/>
                </a:solidFill>
              </a:defRPr>
            </a:pPr>
            <a:r>
              <a:t>• Social Benefits: Standardizes traditional Indian medicine (Ayurveda) digitized infrastructure, facilitating public trust and formal healthcare Integration.</a:t>
            </a:r>
          </a:p>
          <a:p>
            <a:pPr>
              <a:spcAft>
                <a:spcPts val="500"/>
              </a:spcAft>
              <a:defRPr sz="1000">
                <a:solidFill>
                  <a:srgbClr val="1E293B"/>
                </a:solidFill>
              </a:defRPr>
            </a:pPr>
            <a:r>
              <a:t>• Economic Benefits: Enables cashless Ayush TPA insurance claims, transparent hospital billing, and reduces operational overhead costs by up to 35%.</a:t>
            </a:r>
          </a:p>
          <a:p>
            <a:pPr>
              <a:spcAft>
                <a:spcPts val="500"/>
              </a:spcAft>
              <a:defRPr sz="1000">
                <a:solidFill>
                  <a:srgbClr val="1E293B"/>
                </a:solidFill>
              </a:defRPr>
            </a:pPr>
            <a:r>
              <a:t>• Environmental Benefits: Paperless digital records eliminate physical paper clinical files and printed receipts across multi-suite sanctuary operations.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1188720"/>
            <a:ext cx="36576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12801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E36"/>
                </a:solidFill>
              </a:defRPr>
            </a:pPr>
            <a:r>
              <a:t>PROTOTYPE: MATCHED VAIDYAS UI</a:t>
            </a:r>
          </a:p>
        </p:txBody>
      </p:sp>
      <p:pic>
        <p:nvPicPr>
          <p:cNvPr id="21" name="Picture 20" descr="04_matched_adequate_vaidy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691640"/>
            <a:ext cx="3474720" cy="16504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E36"/>
                </a:solidFill>
                <a:latin typeface="Georgia"/>
              </a:defRPr>
            </a:pPr>
            <a:r>
              <a:t>RESEARCH AND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90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F1E36"/>
                </a:solidFill>
              </a:defRPr>
            </a:pPr>
            <a:r>
              <a:t>• Details / Links of reference and research work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Charaka Samhita &amp; Sushruta Samhita: </a:t>
            </a:r>
            <a:r>
              <a:rPr sz="1100">
                <a:solidFill>
                  <a:srgbClr val="1E293B"/>
                </a:solidFill>
              </a:rPr>
              <a:t>Classical Panchakarma Shodhana Protocols, Nadi Pariksha diagnostic standards &amp; Samsarjana Krama post-karma diet regimens.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ABDM (Ayushman Bharat Digital Mission): </a:t>
            </a:r>
            <a:r>
              <a:rPr sz="1100">
                <a:solidFill>
                  <a:srgbClr val="1E293B"/>
                </a:solidFill>
              </a:rPr>
              <a:t>Ministry of Health and Family Welfare, Govt. of India — Health Data Management Policy &amp; Health ID Guidelines (https://abdm.gov.in/).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GSTN (Goods and Services Tax Network): </a:t>
            </a:r>
            <a:r>
              <a:rPr sz="1100">
                <a:solidFill>
                  <a:srgbClr val="1E293B"/>
                </a:solidFill>
              </a:rPr>
              <a:t>Central Board of Indirect Taxes and Customs — Healthcare Service Tax Tariffs &amp; 5% GST structure (https://www.gst.gov.in/).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Tesseract.js Open Source OCR Engine: </a:t>
            </a:r>
            <a:r>
              <a:rPr sz="1100">
                <a:solidFill>
                  <a:srgbClr val="1E293B"/>
                </a:solidFill>
              </a:rPr>
              <a:t>Client-Side Optical Character Recognition Engine for Web Browsers (https://github.com/naptha/tesseract.js).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AyurSutra GitHub Codebase &amp; Repository: </a:t>
            </a:r>
            <a:r>
              <a:rPr sz="1100">
                <a:solidFill>
                  <a:srgbClr val="1E293B"/>
                </a:solidFill>
              </a:rPr>
              <a:t>GitHub Repository: https://github.com/2025ucp1468-Mayank/SIH_PROJECT (Branch: mayank).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