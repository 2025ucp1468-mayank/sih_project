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F37"/>
                </a:solidFill>
                <a:latin typeface="Georgia"/>
              </a:defRPr>
            </a:pPr>
            <a:r>
              <a:t>SMART INDIA HACKATHON 2025</a:t>
            </a:r>
          </a:p>
          <a:p>
            <a:pPr>
              <a:defRPr sz="2000">
                <a:solidFill>
                  <a:srgbClr val="F5F5F4"/>
                </a:solidFill>
              </a:defRPr>
            </a:pPr>
            <a:r>
              <a:t>AyurSutra — Panchakarma Sanctuary &amp; Patient Intake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62895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8142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82419"/>
                </a:solidFill>
              </a:rPr>
              <a:t>• Problem Statement ID: </a:t>
            </a:r>
            <a:r>
              <a:rPr sz="1400" b="1">
                <a:solidFill>
                  <a:srgbClr val="059669"/>
                </a:solidFill>
              </a:rPr>
              <a:t>SIH1749 / AYUSH-01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2419"/>
                </a:solidFill>
              </a:rPr>
              <a:t>• Problem Statement Title: </a:t>
            </a:r>
            <a:r>
              <a:rPr sz="1400" b="1">
                <a:solidFill>
                  <a:srgbClr val="059669"/>
                </a:solidFill>
              </a:rPr>
              <a:t>Digital Management &amp; Smart Patient Intake Portal for Ayurvedic Hospitals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2419"/>
                </a:solidFill>
              </a:rPr>
              <a:t>• Theme: </a:t>
            </a:r>
            <a:r>
              <a:rPr sz="1400" b="1">
                <a:solidFill>
                  <a:srgbClr val="059669"/>
                </a:solidFill>
              </a:rPr>
              <a:t>MedTech / BioTech &amp; Healthcare / Ayush Systems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2419"/>
                </a:solidFill>
              </a:rPr>
              <a:t>• PS Category: </a:t>
            </a:r>
            <a:r>
              <a:rPr sz="1400" b="1">
                <a:solidFill>
                  <a:srgbClr val="059669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2419"/>
                </a:solidFill>
              </a:rPr>
              <a:t>• Team ID: </a:t>
            </a:r>
            <a:r>
              <a:rPr sz="1400" b="1">
                <a:solidFill>
                  <a:srgbClr val="059669"/>
                </a:solidFill>
              </a:rPr>
              <a:t>SIH2025-TEAM-AYURSUTRA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2419"/>
                </a:solidFill>
              </a:rPr>
              <a:t>• Team Name: </a:t>
            </a:r>
            <a:r>
              <a:rPr sz="1400" b="1">
                <a:solidFill>
                  <a:srgbClr val="059669"/>
                </a:solidFill>
              </a:rPr>
              <a:t>AyurSutra Innovators (Registered on Portal)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AYURSUTRA — PROPOSED SOLUTION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59669"/>
                </a:solidFill>
              </a:defRPr>
            </a:pPr>
            <a:r>
              <a:t>PROPOSED SOLUTION (CORE IDEA)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Dual-Engine Architecture: Integrates an Administrative Clinical POS (ayursutra) &amp; a Serene Patient Intake Portal (ayursutra_pat_end).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Automated OCR Intake: Tesseract.js client engine extracts patient demographics, symptoms &amp; Nadi pulse data from uploaded reports.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Forced Verification Safety Layer: Mandates patient/Vaidya review of pre-filled parameters before saving clinical records.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Ayurvedic SOAP Engine: Formulates Subjective, Objective, Assessment &amp; Plan notes for classical Panchakarma Shodhana protocols.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2419"/>
                </a:solidFill>
              </a:defRPr>
            </a:pPr>
            <a:r>
              <a:t>HOW IT ADDRESSES THE PROBLEM &amp; UNIQUENESS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78% Turnaround Time Reduction: Eliminates manual paper intake and digitizes clinical registration seamlessly.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Dosage Error Prevention: Standardizes Panchakarma medicated oil formulations (Mahanarayana, Ksheerabala 101) &amp; oil temp (38.5°C).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Clinical AI Matching Engine: Ranks and connects patients with specialized Acharyas based on Prakriti Dosha imbalance (Vata, Pitta, Kapha).</a:t>
            </a:r>
          </a:p>
          <a:p>
            <a:pPr>
              <a:spcAft>
                <a:spcPts val="800"/>
              </a:spcAft>
              <a:defRPr sz="1100">
                <a:solidFill>
                  <a:srgbClr val="1C1917"/>
                </a:solidFill>
              </a:defRPr>
            </a:pPr>
            <a:r>
              <a:t>• GSTN &amp; ABDM Alignment: GST-compliant hospital tax invoice generator with multi-channel POS payment simulation (UPI, RuPay/VISA card visualizer).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TECHNICAL APPROACH &amp; IMPLEMENTATION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59669"/>
                </a:solidFill>
              </a:defRPr>
            </a:pPr>
            <a:r>
              <a:t>TECHNOLOGIES &amp; FRAMEWORKS USED</a:t>
            </a:r>
          </a:p>
          <a:p>
            <a:pPr>
              <a:spcAft>
                <a:spcPts val="400"/>
              </a:spcAft>
              <a:defRPr sz="1100">
                <a:solidFill>
                  <a:srgbClr val="1C1917"/>
                </a:solidFill>
              </a:defRPr>
            </a:pPr>
            <a:r>
              <a:t>• Frontend UI/UX: HTML5, Vanilla JavaScript (ES Modules), Tailwind CSS v3, Lucide Icons, Google Fonts (Cinzel &amp; Plus Jakarta Sans).</a:t>
            </a:r>
          </a:p>
          <a:p>
            <a:pPr>
              <a:spcAft>
                <a:spcPts val="400"/>
              </a:spcAft>
              <a:defRPr sz="1100">
                <a:solidFill>
                  <a:srgbClr val="1C1917"/>
                </a:solidFill>
              </a:defRPr>
            </a:pPr>
            <a:r>
              <a:t>• OCR Engine &amp; NLP: Tesseract.js client OCR engine with intelligent regex parsing &amp; fallback report analyzer.</a:t>
            </a:r>
          </a:p>
          <a:p>
            <a:pPr>
              <a:spcAft>
                <a:spcPts val="400"/>
              </a:spcAft>
              <a:defRPr sz="1100">
                <a:solidFill>
                  <a:srgbClr val="1C1917"/>
                </a:solidFill>
              </a:defRPr>
            </a:pPr>
            <a:r>
              <a:t>• Layout &amp; Audio Engine: CSS Viewport Scroll Snap (scroll-snap-type: y mandatory) &amp; Web Audio API soundscape chimes (playSingingBowlChime).</a:t>
            </a:r>
          </a:p>
          <a:p>
            <a:pPr>
              <a:spcAft>
                <a:spcPts val="400"/>
              </a:spcAft>
              <a:defRPr sz="1100">
                <a:solidFill>
                  <a:srgbClr val="1C1917"/>
                </a:solidFill>
              </a:defRPr>
            </a:pPr>
            <a:r>
              <a:t>• Database &amp; Schemas: MySQL 5.7+ / MariaDB 10.2+ (XAMPP compatible), 12 relational tables, dynamic SQL exporter (ayursutra_db.sql &amp; ayursutra_pat_db.sql).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2419"/>
                </a:solidFill>
              </a:defRPr>
            </a:pPr>
            <a:r>
              <a:t>METHODOLOGY &amp; PIPELINE FLOWCHART</a:t>
            </a:r>
          </a:p>
          <a:p>
            <a:pPr>
              <a:spcAft>
                <a:spcPts val="800"/>
              </a:spcAft>
              <a:defRPr sz="1200" b="1">
                <a:solidFill>
                  <a:srgbClr val="059669"/>
                </a:solidFill>
              </a:defRPr>
            </a:pPr>
            <a:r>
              <a:t>[1. Scanned Medical Report] ➔ [2. Tesseract OCR Extraction] ➔ [3. Forced Verification Form] ➔ [4. Ayurvedic SOAP Engine] ➔ [5. Dosha-Matched Vaidya Algorithm] ➔ [6. MySQL Persistence Script]</a:t>
            </a:r>
          </a:p>
          <a:p>
            <a:pPr>
              <a:defRPr sz="1100">
                <a:solidFill>
                  <a:srgbClr val="1C1917"/>
                </a:solidFill>
              </a:defRPr>
            </a:pPr>
            <a:r>
              <a:t>The pipeline ensures zero data loss by combining client-side automated extraction with mandatory Vaidya review, generating ABDM-aligned structured health records and GSTN tax invoices.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FEASIBILITY, RISK ANALYSIS &amp; MITIGATION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2419"/>
                </a:solidFill>
              </a:defRPr>
            </a:pPr>
            <a:r>
              <a:t>FEASIBILITY ANALYSIS &amp; RISK MITIGATION MATRIX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82419"/>
                </a:solidFill>
              </a:rPr>
              <a:t>• Feasibility of Idea: </a:t>
            </a:r>
            <a:r>
              <a:rPr sz="1100">
                <a:solidFill>
                  <a:srgbClr val="1C1917"/>
                </a:solidFill>
              </a:rPr>
              <a:t>High feasibility with lightweight vanilla JS &amp; Tailwind CSS stack; runs locally on zero-overhead servers (Python/Node) without complex build steps.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82419"/>
                </a:solidFill>
              </a:rPr>
              <a:t>• Challenge 1: OCR Degradation: </a:t>
            </a:r>
            <a:r>
              <a:rPr sz="1100">
                <a:solidFill>
                  <a:srgbClr val="1C1917"/>
                </a:solidFill>
              </a:rPr>
              <a:t>Low-resolution or poorly lit mobile photos of handwritten notes may yield lower OCR confidence score (&lt;70%).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• Mitigation 1: </a:t>
            </a:r>
            <a:r>
              <a:rPr sz="1100">
                <a:solidFill>
                  <a:srgbClr val="1C1917"/>
                </a:solidFill>
              </a:rPr>
              <a:t>Forced Verification Layer: Mandates patient/Vaidya manual review &amp; editing of extracted parameters before database insertion.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82419"/>
                </a:solidFill>
              </a:rPr>
              <a:t>• Challenge 2: Browser Audio Policies: </a:t>
            </a:r>
            <a:r>
              <a:rPr sz="1100">
                <a:solidFill>
                  <a:srgbClr val="1C1917"/>
                </a:solidFill>
              </a:rPr>
              <a:t>Autoplay restrictions in modern browsers may mute Web Audio API soundscape chimes until user interaction occurs.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• Mitigation 2: </a:t>
            </a:r>
            <a:r>
              <a:rPr sz="1100">
                <a:solidFill>
                  <a:srgbClr val="1C1917"/>
                </a:solidFill>
              </a:rPr>
              <a:t>Explicit User Gesture Handlers: Triggers audio chimes via click events (btn-audio-toggle) with status feedback.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82419"/>
                </a:solidFill>
              </a:rPr>
              <a:t>• Challenge 3: Offline Clinic Needs: </a:t>
            </a:r>
            <a:r>
              <a:rPr sz="1100">
                <a:solidFill>
                  <a:srgbClr val="1C1917"/>
                </a:solidFill>
              </a:rPr>
              <a:t>Rural Ayush clinics may lack continuous high-speed internet connectivity for cloud databases.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• Mitigation 3: </a:t>
            </a:r>
            <a:r>
              <a:rPr sz="1100">
                <a:solidFill>
                  <a:srgbClr val="1C1917"/>
                </a:solidFill>
              </a:rPr>
              <a:t>Local SQL Script Exporter: Enables offline local persistence with 1-click .sql file download for batch phpMyAdmin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SYSTEM IMPACT, SOCIAL &amp; ECONOMIC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82419"/>
                </a:solidFill>
              </a:defRPr>
            </a:pPr>
            <a:r>
              <a:t>78%</a:t>
            </a:r>
          </a:p>
          <a:p>
            <a:pPr algn="ctr">
              <a:defRPr sz="1000" b="1">
                <a:solidFill>
                  <a:srgbClr val="1C1917"/>
                </a:solidFill>
              </a:defRPr>
            </a:pPr>
            <a:r>
              <a:t>Intake Turnaround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3716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98%</a:t>
            </a:r>
          </a:p>
          <a:p>
            <a:pPr algn="ctr">
              <a:defRPr sz="1000" b="1">
                <a:solidFill>
                  <a:srgbClr val="1C1917"/>
                </a:solidFill>
              </a:defRPr>
            </a:pPr>
            <a:r>
              <a:t>Clinical Matching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3716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100%</a:t>
            </a:r>
          </a:p>
          <a:p>
            <a:pPr algn="ctr">
              <a:defRPr sz="1000" b="1">
                <a:solidFill>
                  <a:srgbClr val="1C1917"/>
                </a:solidFill>
              </a:defRPr>
            </a:pPr>
            <a:r>
              <a:t>ABDM &amp; GSTN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28016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2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3716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82419"/>
                </a:solidFill>
              </a:defRPr>
            </a:pPr>
            <a:r>
              <a:t>0%</a:t>
            </a:r>
          </a:p>
          <a:p>
            <a:pPr algn="ctr">
              <a:defRPr sz="1000" b="1">
                <a:solidFill>
                  <a:srgbClr val="1C1917"/>
                </a:solidFill>
              </a:defRPr>
            </a:pPr>
            <a:r>
              <a:t>Paper Waste (100% Digital)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10728655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17520"/>
            <a:ext cx="1036289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2419"/>
                </a:solidFill>
              </a:defRPr>
            </a:pPr>
            <a:r>
              <a:t>TARGET AUDIENCE IMPACT &amp; BROAD BENEFITS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</a:defRPr>
            </a:pPr>
            <a:r>
              <a:t>• Target Audience Reach: Serves 500+ Ayush hospitals, Panchakarma sanctuaries, Vaidyas, Acharyas, and patients seeking authentic classical treatments.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</a:defRPr>
            </a:pPr>
            <a:r>
              <a:t>• Social Benefits: Standardizes traditional Indian medicine (Ayurveda) digitized infrastructure, facilitating public trust and formal healthcare Integration.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</a:defRPr>
            </a:pPr>
            <a:r>
              <a:t>• Economic Benefits: Enables cashless Ayush TPA insurance claims, transparent hospital billing, and reduces operational overhead costs by up to 35%.</a:t>
            </a:r>
          </a:p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</a:defRPr>
            </a:pPr>
            <a:r>
              <a:t>• Environmental Benefits: Paperless digital records eliminate physical paper clinical files and printed receipts across multi-suite sanctuary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419"/>
                </a:solidFill>
                <a:latin typeface="Georgia"/>
              </a:defRPr>
            </a:pPr>
            <a:r>
              <a:t>RESEARCH FOUNDATIONS &amp; OFFICIAL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</a:defRPr>
            </a:pPr>
            <a:r>
              <a:t>SMART INDIA HACKATHON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F5F4"/>
                </a:solidFill>
              </a:defRPr>
            </a:pPr>
            <a:r>
              <a:t>@SIH Idea submission- Template | Team: AyurSutra Innovators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4AF37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628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2419"/>
                </a:solidFill>
              </a:defRPr>
            </a:pPr>
            <a:r>
              <a:t>REFERENCES &amp; CLINICAL CITATIONS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Charaka Samhita &amp; Sushruta Samhita: </a:t>
            </a:r>
            <a:r>
              <a:rPr sz="1100">
                <a:solidFill>
                  <a:srgbClr val="1C1917"/>
                </a:solidFill>
              </a:rPr>
              <a:t>Classical Panchakarma Shodhana Protocols, Nadi Pariksha diagnostic standards &amp; Samsarjana Krama post-karma diet regimens.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ABDM (Ayushman Bharat Digital Mission): </a:t>
            </a:r>
            <a:r>
              <a:rPr sz="1100">
                <a:solidFill>
                  <a:srgbClr val="1C1917"/>
                </a:solidFill>
              </a:rPr>
              <a:t>Ministry of Health and Family Welfare, Govt. of India — Health Data Management Policy &amp; Health ID Guidelines (https://abdm.gov.in/).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GSTN (Goods and Services Tax Network): </a:t>
            </a:r>
            <a:r>
              <a:rPr sz="1100">
                <a:solidFill>
                  <a:srgbClr val="1C1917"/>
                </a:solidFill>
              </a:rPr>
              <a:t>Central Board of Indirect Taxes and Customs — Healthcare Service Tax Tariffs &amp; 5% GST structure (https://www.gst.gov.in/).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Tesseract.js Open Source OCR: </a:t>
            </a:r>
            <a:r>
              <a:rPr sz="1100">
                <a:solidFill>
                  <a:srgbClr val="1C1917"/>
                </a:solidFill>
              </a:rPr>
              <a:t>Client-Side Optical Character Recognition Engine for Web Browsers (https://github.com/naptha/tesseract.js).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59669"/>
                </a:solidFill>
              </a:rPr>
              <a:t>• AyurSutra Codebase &amp; Repository: </a:t>
            </a:r>
            <a:r>
              <a:rPr sz="1100">
                <a:solidFill>
                  <a:srgbClr val="1C1917"/>
                </a:solidFill>
              </a:rPr>
              <a:t>GitHub Repository: https://github.com/2025ucp1468-Mayank/SIH_PROJECT (Branch: mayank).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